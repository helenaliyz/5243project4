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45720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87A22"/>
                </a:solidFill>
                <a:latin typeface="Calibri"/>
              </a:rPr>
              <a:t>STAT GR5243  ·  Project 4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4F6F8"/>
                </a:solidFill>
                <a:latin typeface="Calibri"/>
              </a:rPr>
              <a:t>Predicting Daily Citi Bike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4F6F8"/>
                </a:solidFill>
                <a:latin typeface="Calibri"/>
              </a:rPr>
              <a:t>An end-to-end machine learning pipeline for
station-level demand forecasting in New York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4F6F8"/>
                </a:solidFill>
                <a:latin typeface="Calibri"/>
              </a:rPr>
              <a:t>Helena Li (yl6029)   ·   Wentao Zhong (wz2753)   ·   Kevin Ma (km4189)   ·   Ketaki Dabade (kvd2112)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01  ·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Why Predict Citi Bike Demand?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8580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2869E"/>
                </a:solidFill>
                <a:latin typeface="Calibri"/>
              </a:rPr>
              <a:t>▸ </a:t>
            </a:r>
            <a:r>
              <a:rPr sz="2000">
                <a:solidFill>
                  <a:srgbClr val="1B1F24"/>
                </a:solidFill>
                <a:latin typeface="Calibri"/>
              </a:rPr>
              <a:t>Citi Bike is NYC's largest bike-share system — millions of trips per year.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2869E"/>
                </a:solidFill>
                <a:latin typeface="Calibri"/>
              </a:rPr>
              <a:t>▸ </a:t>
            </a:r>
            <a:r>
              <a:rPr sz="2000">
                <a:solidFill>
                  <a:srgbClr val="1B1F24"/>
                </a:solidFill>
                <a:latin typeface="Calibri"/>
              </a:rPr>
              <a:t>Operations team must rebalance bikes across stations every day.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2869E"/>
                </a:solidFill>
                <a:latin typeface="Calibri"/>
              </a:rPr>
              <a:t>▸ </a:t>
            </a:r>
            <a:r>
              <a:rPr sz="2000">
                <a:solidFill>
                  <a:srgbClr val="1B1F24"/>
                </a:solidFill>
                <a:latin typeface="Calibri"/>
              </a:rPr>
              <a:t>Bad forecasts → empty docks at commuter hubs, full docks near parks.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2869E"/>
                </a:solidFill>
                <a:latin typeface="Calibri"/>
              </a:rPr>
              <a:t>▸ </a:t>
            </a:r>
            <a:r>
              <a:rPr sz="2000">
                <a:solidFill>
                  <a:srgbClr val="1B1F24"/>
                </a:solidFill>
                <a:latin typeface="Calibri"/>
              </a:rPr>
              <a:t>Demand is driven by weather, calendar, geography AND station identity.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2869E"/>
                </a:solidFill>
                <a:latin typeface="Calibri"/>
              </a:rPr>
              <a:t>▸ </a:t>
            </a:r>
            <a:r>
              <a:rPr sz="2000">
                <a:solidFill>
                  <a:srgbClr val="1B1F24"/>
                </a:solidFill>
                <a:latin typeface="Calibri"/>
              </a:rPr>
              <a:t>Goal: predict the number of trips per station per day, one day ahead.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749039" cy="4114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869E"/>
                </a:solidFill>
                <a:latin typeface="Calibri"/>
              </a:rPr>
              <a:t>THE PREDICTIVE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286000"/>
            <a:ext cx="3474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Given a station and a date,
how many trips will start there?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56616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869E"/>
                </a:solidFill>
                <a:latin typeface="Calibri"/>
              </a:rPr>
              <a:t>WHY IT'S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77639"/>
            <a:ext cx="34747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• Right-skewed demand (long tail)
• Weather × calendar × geography
• Hundreds of heterogeneous stations
• Strong temporal autocorrelation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02  · 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287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Trips + Weather
+ Station Context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27935" y="3035808"/>
            <a:ext cx="164592" cy="164592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65095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5095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2869E"/>
                </a:solidFill>
                <a:latin typeface="Calibri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5095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Parse, dedupe,
standardize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20743" y="3035808"/>
            <a:ext cx="164592" cy="164592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7903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7903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2869E"/>
                </a:solidFill>
                <a:latin typeface="Calibri"/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903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Trends, distributions,
weather effects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3551" y="3035808"/>
            <a:ext cx="164592" cy="164592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0711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0711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7A22"/>
                </a:solidFill>
                <a:latin typeface="Calibri"/>
              </a:rPr>
              <a:t>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K-Means on station
profiles (k=4)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6359" y="3035808"/>
            <a:ext cx="164592" cy="164592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3519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3519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7A22"/>
                </a:solidFill>
                <a:latin typeface="Calibri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3519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Lag, weather flags,
cyclical calendar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99167" y="3035808"/>
            <a:ext cx="164592" cy="164592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36327" y="2194560"/>
            <a:ext cx="178308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6327" y="2331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6327" y="28346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B1F24"/>
                </a:solidFill>
                <a:latin typeface="Calibri"/>
              </a:rPr>
              <a:t>Ridge / RF / GB
+ tuned 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555F6D"/>
                </a:solidFill>
                <a:latin typeface="Calibri"/>
              </a:rPr>
              <a:t>Time-based 80/20 split  ·  metrics on the original (un-logged) trip-count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Calibri"/>
              </a:rPr>
              <a:t>Each step feeds the next — clustering becomes a feature, lag demand becomes the strongest predictor.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03  ·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Three Sources, One Analytic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Citi Bike trips — monthly CSVs (Jan–Feb 2026).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Daily NYC weather — Open-Meteo (temp, precip, wind).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Station context — IDs, lat/lon, neighborhood flags (park, pier, plaza, square).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Parse timestamps; drop trips with invalid station IDs.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Standardize station names; verify coordinates.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Group by (station, date) → daily_trip_count.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Merge weather (on date) and station context (on station_id).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783080"/>
            <a:ext cx="4937760" cy="4572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ONE ROW PER STATION-DAY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5720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station_id   ·   date   ·   daily_trip_count
casual_share / member_share
classic_bike_share / electric_bike_share
mean_temperature   ·   precipitation_sum
max_wind_speed
start_lat   ·   start_lng
has_park   ·   has_pier   ·   has_plaza   ·   has_square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04  · 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Demand Has Strong Time &amp; Weather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ily_dem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400800" cy="3200400"/>
          </a:xfrm>
          <a:prstGeom prst="rect">
            <a:avLst/>
          </a:prstGeom>
        </p:spPr>
      </p:pic>
      <p:pic>
        <p:nvPicPr>
          <p:cNvPr id="8" name="Picture 7" descr="weekday_weekend_average_total_tr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4840"/>
            <a:ext cx="3108960" cy="2590800"/>
          </a:xfrm>
          <a:prstGeom prst="rect">
            <a:avLst/>
          </a:prstGeom>
        </p:spPr>
      </p:pic>
      <p:pic>
        <p:nvPicPr>
          <p:cNvPr id="9" name="Picture 8" descr="demand_distribution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4434840"/>
            <a:ext cx="3108960" cy="1943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WHAT WE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03120"/>
            <a:ext cx="46634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System ramps from &lt;2k to ~48k trips/day in mid-January.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Weekday avg ≈ 17.5k trips  ·  Weekend ≈ 10.8k (~60% premium).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Station-day demand is heavily right-skewed → log-transform target.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2869E"/>
                </a:solidFill>
                <a:latin typeface="Calibri"/>
              </a:rPr>
              <a:t>▸ </a:t>
            </a:r>
            <a:r>
              <a:rPr sz="1600">
                <a:solidFill>
                  <a:srgbClr val="1B1F24"/>
                </a:solidFill>
                <a:latin typeface="Calibri"/>
              </a:rPr>
              <a:t>Median ≈ 40 trips/day, long tail past 400.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04  · 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Weather Suppresses Demand; Geography Concentrates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mand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3840480" cy="2743200"/>
          </a:xfrm>
          <a:prstGeom prst="rect">
            <a:avLst/>
          </a:prstGeom>
        </p:spPr>
      </p:pic>
      <p:pic>
        <p:nvPicPr>
          <p:cNvPr id="8" name="Picture 7" descr="demand_vs_precip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0520"/>
            <a:ext cx="3840480" cy="2743200"/>
          </a:xfrm>
          <a:prstGeom prst="rect">
            <a:avLst/>
          </a:prstGeom>
        </p:spPr>
      </p:pic>
      <p:pic>
        <p:nvPicPr>
          <p:cNvPr id="9" name="Picture 8" descr="top_10_busiest_st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7360"/>
            <a:ext cx="45720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17373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148840"/>
            <a:ext cx="24688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2869E"/>
                </a:solidFill>
                <a:latin typeface="Calibri"/>
              </a:rPr>
              <a:t>▸ </a:t>
            </a:r>
            <a:r>
              <a:rPr sz="1300">
                <a:solidFill>
                  <a:srgbClr val="1B1F24"/>
                </a:solidFill>
                <a:latin typeface="Calibri"/>
              </a:rPr>
              <a:t>Highest-demand days cluster at warmer temps.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2869E"/>
                </a:solidFill>
                <a:latin typeface="Calibri"/>
              </a:rPr>
              <a:t>▸ </a:t>
            </a:r>
            <a:r>
              <a:rPr sz="1300">
                <a:solidFill>
                  <a:srgbClr val="1B1F24"/>
                </a:solidFill>
                <a:latin typeface="Calibri"/>
              </a:rPr>
              <a:t>Days with &gt;10 mm precipitation almost always low-demand.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2869E"/>
                </a:solidFill>
                <a:latin typeface="Calibri"/>
              </a:rPr>
              <a:t>▸ </a:t>
            </a:r>
            <a:r>
              <a:rPr sz="1300">
                <a:solidFill>
                  <a:srgbClr val="1B1F24"/>
                </a:solidFill>
                <a:latin typeface="Calibri"/>
              </a:rPr>
              <a:t>Top stations: Chelsea, Midtown, Union Sq, Pier 61.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2869E"/>
                </a:solidFill>
                <a:latin typeface="Calibri"/>
              </a:rPr>
              <a:t>▸ </a:t>
            </a:r>
            <a:r>
              <a:rPr sz="1300">
                <a:solidFill>
                  <a:srgbClr val="1B1F24"/>
                </a:solidFill>
                <a:latin typeface="Calibri"/>
              </a:rPr>
              <a:t>Mix of commuter and leisure hubs → motivates clustering.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05  · 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Stations Fall Into 4 Behavioral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Aggregate to station-level profile (NOT station-day):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    avg / median / max demand, demand volatility (CV),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    casual vs. member share, electric-bike share,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    weekend-to-weekday ratio, lat/lon, neighborhood flags.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Standardize → K-Means.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Choose k = 4 via elbow + silhouette.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2869E"/>
                </a:solidFill>
                <a:latin typeface="Calibri"/>
              </a:rPr>
              <a:t>▸ </a:t>
            </a:r>
            <a:r>
              <a:rPr sz="1800">
                <a:solidFill>
                  <a:srgbClr val="1B1F24"/>
                </a:solidFill>
                <a:latin typeface="Calibri"/>
              </a:rPr>
              <a:t>Visualize in 2D with PCA.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389120" cy="12801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9202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Cluster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202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Commuter hubs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31720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high weekday volume,
member-dominated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218688"/>
            <a:ext cx="4389120" cy="12801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31012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87A22"/>
                </a:solidFill>
                <a:latin typeface="Calibri"/>
              </a:rPr>
              <a:t>Cluster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1012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Leisure / waterfront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721608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elevated casual share,
weekend-heavy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608576"/>
            <a:ext cx="4389120" cy="12801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700016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869E"/>
                </a:solidFill>
                <a:latin typeface="Calibri"/>
              </a:rPr>
              <a:t>Cluster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700016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Mixed-use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5111496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moderate demand
across rider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998464"/>
            <a:ext cx="4389120" cy="12801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6089904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6D"/>
                </a:solidFill>
                <a:latin typeface="Calibri"/>
              </a:rPr>
              <a:t>Cluster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08990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Low-demand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6501384"/>
            <a:ext cx="4206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low average and
peak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06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What We Feed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97480" cy="4023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869E"/>
                </a:solidFill>
                <a:latin typeface="Calibri"/>
              </a:rPr>
              <a:t>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is_weekend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dow_sin / dow_cos
(cyclical day-of-week)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697480" cy="4023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87A22"/>
                </a:solidFill>
                <a:latin typeface="Calibri"/>
              </a:rPr>
              <a:t>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mean_temperature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precipitation_sum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max_wind_speed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has_precipitation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heavy_precipitation
(top decile)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high_wind (top decile)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2697480" cy="4023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LAG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lag_1_trip_count
(yesterday)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lag_7_trip_count
(same weekday last week)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83080"/>
            <a:ext cx="2697480" cy="4023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869E"/>
                </a:solidFill>
                <a:latin typeface="Calibri"/>
              </a:rP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4231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start_lat / start_lng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has_park / has_pier /
has_plaza / has_square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B1F24"/>
                </a:solidFill>
                <a:latin typeface="Calibri"/>
              </a:rPr>
              <a:t>• station_cluster (one-hot)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64240" cy="548640"/>
          </a:xfrm>
          <a:prstGeom prst="roundRect">
            <a:avLst/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Target = log(1 + daily_trip_count)   ·   Same-day rider/bike shares EXCLUDED to avoid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07  · 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Four Models, One Clear Winner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572000" cy="4389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MODELS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42976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Ridge Regression — linear baseline (α=1).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Random Forest — 300 trees, depth 12, leaf 5.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Gradient Boosting — 300 trees, lr 0.05, depth 3.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Tuned Random Forest — 3-fold GridSearchCV
   (n=300, depth=None, leaf=3).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874519"/>
            <a:ext cx="310896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98424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4F6F8"/>
                </a:solidFill>
                <a:latin typeface="Calibri"/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874519"/>
            <a:ext cx="118872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8424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874519"/>
            <a:ext cx="118872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98424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27080" y="1874519"/>
            <a:ext cx="118872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198424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377439"/>
            <a:ext cx="3108960" cy="50292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48716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4F6F8"/>
                </a:solidFill>
                <a:latin typeface="Calibri"/>
              </a:rPr>
              <a:t>Tuned 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377439"/>
            <a:ext cx="1188720" cy="50292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48716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19.75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2377439"/>
            <a:ext cx="1188720" cy="50292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48716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28.13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27080" y="2377439"/>
            <a:ext cx="1188720" cy="50292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248716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4F6F8"/>
                </a:solidFill>
                <a:latin typeface="Calibri"/>
              </a:rPr>
              <a:t>0.289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880359"/>
            <a:ext cx="31089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99008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B1F24"/>
                </a:solidFill>
                <a:latin typeface="Calibri"/>
              </a:rP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88035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99008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21.23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288035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99008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29.70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27080" y="288035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299008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0.207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383279"/>
            <a:ext cx="31089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49300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B1F24"/>
                </a:solidFill>
                <a:latin typeface="Calibri"/>
              </a:rPr>
              <a:t>Gradient Boosting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38327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349300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24.70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60" y="338327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49300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32.71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0" y="338327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4240" y="349300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0.038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3886199"/>
            <a:ext cx="31089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3995927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B1F24"/>
                </a:solidFill>
                <a:latin typeface="Calibri"/>
              </a:rPr>
              <a:t>Ridge Regression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88619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399592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25.85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60" y="388619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399592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35.78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27080" y="3886199"/>
            <a:ext cx="11887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64240" y="3995927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1F24"/>
                </a:solidFill>
                <a:latin typeface="Calibri"/>
              </a:rPr>
              <a:t>−0.151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2120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Tuned RF wins on every metric — picked as the final model.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56235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F6D"/>
                </a:solidFill>
                <a:latin typeface="Calibri"/>
              </a:rPr>
              <a:t>Time-based holdout — most recent 20% of dates.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08  ·  WHAT THE MODEL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Lag Demand &amp; Weather Drive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TOP FEATURE IMPORTANCES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lag_1_trip_count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286000"/>
            <a:ext cx="3657600" cy="256032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226771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0.506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mean_temperature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633472"/>
            <a:ext cx="1402320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4040" y="2615184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0.194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max_wind_speed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980944"/>
            <a:ext cx="542134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3854" y="2962656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precipitation_sum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328416"/>
            <a:ext cx="440935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2655" y="331012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lag_7_trip_count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75888"/>
            <a:ext cx="404793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6513" y="3657600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05072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dow_sin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023360"/>
            <a:ext cx="144569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6289" y="4005072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52544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start_lat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370832"/>
            <a:ext cx="137340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9060" y="4352544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00016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start_lng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718304"/>
            <a:ext cx="130112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1832" y="4700016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47488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heavy_precipitation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065776"/>
            <a:ext cx="122883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4603" y="50474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Calibri"/>
              </a:rPr>
              <a:t>station_cluster_0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5413248"/>
            <a:ext cx="79513" cy="256032"/>
          </a:xfrm>
          <a:prstGeom prst="rect">
            <a:avLst/>
          </a:prstGeom>
          <a:solidFill>
            <a:srgbClr val="128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1233" y="5394960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Calibri"/>
              </a:rPr>
              <a:t>0.011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1783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869E"/>
                </a:solidFill>
                <a:latin typeface="Calibri"/>
              </a:rPr>
              <a:t>ERROR BY DEMAND QUARTILE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286000"/>
            <a:ext cx="155448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2359152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4F6F8"/>
                </a:solidFill>
                <a:latin typeface="Calibri"/>
              </a:rPr>
              <a:t>Group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286000"/>
            <a:ext cx="109728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35915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Actual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2286000"/>
            <a:ext cx="128016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2359152"/>
            <a:ext cx="1143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Predicted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2286000"/>
            <a:ext cx="1097280" cy="411480"/>
          </a:xfrm>
          <a:prstGeom prst="rect">
            <a:avLst/>
          </a:prstGeom>
          <a:solidFill>
            <a:srgbClr val="0B2A4A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0" y="235915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MAE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2697480"/>
            <a:ext cx="15544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2770632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269748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277063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17.0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697480"/>
            <a:ext cx="128016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2770632"/>
            <a:ext cx="1143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25.2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269748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0" y="277063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14.3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3108960"/>
            <a:ext cx="15544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3182112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Medium-Low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310896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318211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41.2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3108960"/>
            <a:ext cx="128016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3182112"/>
            <a:ext cx="1143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47.0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310896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0" y="318211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16.6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0" y="3520440"/>
            <a:ext cx="15544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3593592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Medium-High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352044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359359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61.5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520440"/>
            <a:ext cx="128016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760" y="3593592"/>
            <a:ext cx="1143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60.7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98480" y="3520440"/>
            <a:ext cx="1097280" cy="411480"/>
          </a:xfrm>
          <a:prstGeom prst="rect">
            <a:avLst/>
          </a:prstGeom>
          <a:solidFill>
            <a:srgbClr val="F4F6F8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89920" y="359359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Calibri"/>
              </a:rPr>
              <a:t>16.0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3931920"/>
            <a:ext cx="1554480" cy="41148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0" y="4005072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4F6F8"/>
                </a:solidFill>
                <a:latin typeface="Calibri"/>
              </a:rPr>
              <a:t>High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3931920"/>
            <a:ext cx="1097280" cy="41148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00507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99.9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18320" y="3931920"/>
            <a:ext cx="1280160" cy="41148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4005072"/>
            <a:ext cx="1143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83.1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0" y="3931920"/>
            <a:ext cx="1097280" cy="411480"/>
          </a:xfrm>
          <a:prstGeom prst="rect">
            <a:avLst/>
          </a:prstGeom>
          <a:solidFill>
            <a:srgbClr val="E87A22"/>
          </a:solidFill>
          <a:ln w="6350">
            <a:solidFill>
              <a:srgbClr val="555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89920" y="4005072"/>
            <a:ext cx="960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4F6F8"/>
                </a:solidFill>
                <a:latin typeface="Calibri"/>
              </a:rPr>
              <a:t>32.6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4572000"/>
            <a:ext cx="50292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Model is well-calibrated except for the highest-demand quartile,
where it under-predicts (≈ −17 trips on avg). A known cost of
log-transform + tree smoothing on heavy-tailed targets.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09  · 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Limitations &amp; What We'd Do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4389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7A22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0292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Only 2 months of data — no seasonal cycle.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Under-prediction at peak-demand stations.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No holiday or special-event indicators.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Weather is daily — sub-day patterns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86400" cy="4389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28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869E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Span a full year to capture seasonality.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Quantile regression / two-stage surge model
   for peak days.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Add holidays, NYC events, transit disruptions.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2869E"/>
                </a:solidFill>
                <a:latin typeface="Calibri"/>
              </a:rPr>
              <a:t>▸ </a:t>
            </a:r>
            <a:r>
              <a:rPr sz="1500">
                <a:solidFill>
                  <a:srgbClr val="1B1F24"/>
                </a:solidFill>
                <a:latin typeface="Calibri"/>
              </a:rPr>
              <a:t>Deploy as a Streamlit station-day demand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7A22"/>
                </a:solidFill>
                <a:latin typeface="Calibri"/>
              </a:rPr>
              <a:t>10  · 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4F6F8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881360" cy="1371600"/>
          </a:xfrm>
          <a:prstGeom prst="roundRect">
            <a:avLst/>
          </a:prstGeom>
          <a:solidFill>
            <a:srgbClr val="0B2A4A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87A22"/>
                </a:solidFill>
                <a:latin typeface="Calibri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4F6F8"/>
                </a:solidFill>
                <a:latin typeface="Calibri"/>
              </a:rPr>
              <a:t>A tuned Random Forest on lag demand + weather + clusters
predicts station-day Citi Bike demand with MAE ≈ 20 trips
on a true future holdout — strong enough to support rebalancing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7A22"/>
                </a:solidFill>
                <a:latin typeface="Calibri"/>
              </a:rPr>
              <a:t>TEAM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Helena Li (yl6029)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60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Calibri"/>
              </a:rPr>
              <a:t>Data acquisition &amp; cleaning · station-day analytic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4456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Wentao Zhong (wz2753)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54456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Calibri"/>
              </a:rPr>
              <a:t>Exploratory data analysis · figures &amp; summary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2861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Kevin Ma (km4189)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928616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Calibri"/>
              </a:rPr>
              <a:t>Clustering · feature engineering · supervised models ·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12664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Calibri"/>
              </a:rPr>
              <a:t>Ketaki Dabade (kvd2112)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312664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Calibri"/>
              </a:rPr>
              <a:t>Final report · README · evaluation interpretation ·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87A22"/>
                </a:solidFill>
                <a:latin typeface="Calibri"/>
              </a:rPr>
              <a:t>github.com/Helenaliyz/5243Project4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Calibri"/>
              </a:rPr>
              <a:t>Citi Bike Demand  ·  STAT GR5243 Project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