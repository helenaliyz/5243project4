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4114800" cy="4114800"/>
          </a:xfrm>
          <a:prstGeom prst="ellipse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8090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-365760"/>
            <a:ext cx="2560320" cy="2560320"/>
          </a:xfrm>
          <a:prstGeom prst="ellipse">
            <a:avLst/>
          </a:prstGeom>
          <a:solidFill>
            <a:srgbClr val="00A896">
              <a:alpha val="40000"/>
            </a:srgbClr>
          </a:solidFill>
          <a:ln w="12700">
            <a:solidFill>
              <a:srgbClr val="00A896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57200" y="3474720"/>
            <a:ext cx="2286000" cy="2286000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A896"/>
                </a:solidFill>
              </a:rPr>
              <a:t>PROJECT 4  ·  DATA ANALYSIS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640080" y="35204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8C8D8"/>
                </a:solidFill>
              </a:rPr>
              <a:t>Citi Bike Station-Day Demand  ·  January – February 2026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4160520"/>
            <a:ext cx="2560320" cy="685800"/>
          </a:xfrm>
          <a:prstGeom prst="rect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0A896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418795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16,997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45262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BFCF"/>
                </a:solidFill>
              </a:rPr>
              <a:t>Station-Day Records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474720" y="4160520"/>
            <a:ext cx="2560320" cy="685800"/>
          </a:xfrm>
          <a:prstGeom prst="rect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0A896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418795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Jan–Feb 2026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0440" y="45262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BFCF"/>
                </a:solidFill>
              </a:rPr>
              <a:t>Date Range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309360" y="4160520"/>
            <a:ext cx="2560320" cy="685800"/>
          </a:xfrm>
          <a:prstGeom prst="rect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0A896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418795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200+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55080" y="45262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BFCF"/>
                </a:solidFill>
              </a:rPr>
              <a:t>Unique Stations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028090"/>
                </a:solidFill>
              </a:rPr>
              <a:t>DEMAND OVERVIEW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Daily Citi Bike Demand</a:t>
            </a:r>
            <a:endParaRPr lang="en-US" sz="2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1188720"/>
            <a:ext cx="8503920" cy="35204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20040" y="4572000"/>
            <a:ext cx="8503920" cy="4572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4590288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💡  Two demand spikes (~45K and ~48K) appear mid-January; volumes stabilize around 15K–30K in February. Early January shows very low demand, likely reflecting data ramp-up.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028090"/>
                </a:solidFill>
              </a:rPr>
              <a:t>DISTRIBUTION ANALYSIS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Station-Day Demand Distribution</a:t>
            </a:r>
            <a:endParaRPr lang="en-US" sz="2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1143000"/>
            <a:ext cx="4297680" cy="292608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54880" y="1143000"/>
            <a:ext cx="4114800" cy="29260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320040" y="4251960"/>
            <a:ext cx="26517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0EE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365760" y="427024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8090"/>
                </a:solidFill>
              </a:rPr>
              <a:t>44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365760" y="45902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Median Trips/Station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3200400" y="4251960"/>
            <a:ext cx="26517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0EE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246120" y="427024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8090"/>
                </a:solidFill>
              </a:rPr>
              <a:t>53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3246120" y="45902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Mean Trips/Station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6080760" y="4251960"/>
            <a:ext cx="26517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0EE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126480" y="427024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8090"/>
                </a:solidFill>
              </a:rPr>
              <a:t>421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6126480" y="45902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Max Trips/Station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320040" y="495604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Distribution is right-skewed — most station-days see fewer than 100 trips, with a small number of high-demand stations pulling the mean above the median.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028090"/>
                </a:solidFill>
              </a:rPr>
              <a:t>TEMPORAL PATTERNS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 vs. Weekend Demand</a:t>
            </a:r>
            <a:endParaRPr lang="en-US" sz="2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1143000"/>
            <a:ext cx="3931920" cy="301752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434840" y="1143000"/>
            <a:ext cx="4434840" cy="30175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320040" y="4251960"/>
            <a:ext cx="26517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0EE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320040" y="4251960"/>
            <a:ext cx="73152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57200" y="427024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~17,500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457200" y="460857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Weekday Avg · total daily trips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3200400" y="4251960"/>
            <a:ext cx="26517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0EE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200400" y="4251960"/>
            <a:ext cx="73152" cy="685800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337560" y="427024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26769"/>
                </a:solidFill>
              </a:rPr>
              <a:t>~11,000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337560" y="460857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Weekend Avg · total daily trips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6080760" y="4251960"/>
            <a:ext cx="26517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0EE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080760" y="4251960"/>
            <a:ext cx="73152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217920" y="427024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</a:rPr>
              <a:t>51 vs 30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6217920" y="460857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Station Median · weekday vs weekend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320040" y="495604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Weekdays consistently see ~60% more total trips than weekends, with higher medians and greater spread across stations.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028090"/>
                </a:solidFill>
              </a:rPr>
              <a:t>WEATHER IMPACT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vs. Weather Conditions</a:t>
            </a:r>
            <a:endParaRPr lang="en-US" sz="2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1143000"/>
            <a:ext cx="4206240" cy="301752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63440" y="1143000"/>
            <a:ext cx="4206240" cy="30175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320040" y="4251960"/>
            <a:ext cx="26517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0EE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11480" y="42702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🌡 Temperature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11480" y="45262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</a:rPr>
              <a:t>r = −0.02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1463040" y="454456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Weak, non-linear effect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3200400" y="4251960"/>
            <a:ext cx="26517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0EE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291840" y="42702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🌧 Precipitation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291840" y="45262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</a:rPr>
              <a:t>r = −0.26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4343400" y="454456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Moderate negative effect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6080760" y="4251960"/>
            <a:ext cx="26517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0EE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172200" y="42702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💨 Wind Speed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6172200" y="45262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</a:rPr>
              <a:t>r = −0.07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7223760" y="454456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Minimal effect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320040" y="495604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Precipitation shows the clearest negative relationship with demand. Temperature effect is noisy over the winter range observed.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028090"/>
                </a:solidFill>
              </a:rPr>
              <a:t>STATION ANALYSIS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Busiest Stations</a:t>
            </a:r>
            <a:endParaRPr lang="en-US" sz="2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1097280"/>
            <a:ext cx="5943600" cy="3749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92240" y="109728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28090"/>
                </a:solidFill>
              </a:rPr>
              <a:t>TOP PERFORMERS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492240" y="1417320"/>
            <a:ext cx="242316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37960" y="147218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</a:rPr>
              <a:t>#1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537960" y="17373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W 21 St &amp; 6 Ave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537960" y="205740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A896"/>
                </a:solidFill>
              </a:rPr>
              <a:t>~8,100 trips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492240" y="2468880"/>
            <a:ext cx="242316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37960" y="252374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</a:rPr>
              <a:t>#2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537960" y="27889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Pier 61 at Chelsea Piers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537960" y="310896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A896"/>
                </a:solidFill>
              </a:rPr>
              <a:t>~7,700 trips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492240" y="3520440"/>
            <a:ext cx="242316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537960" y="357530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</a:rPr>
              <a:t>#3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537960" y="38404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Lafayette St &amp; E 8 St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537960" y="416052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A896"/>
                </a:solidFill>
              </a:rPr>
              <a:t>~6,900 trips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320040" y="48646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Chelsea &amp; Union Square neighborhoods dominate — reflecting commuter + recreational hotspots in Midtown–Lower Manhattan.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028090"/>
                </a:solidFill>
              </a:rPr>
              <a:t>VARIABLE RELATIONSHIPS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Correlation Matrix</a:t>
            </a:r>
            <a:endParaRPr lang="en-US" sz="2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1097280"/>
            <a:ext cx="5303520" cy="3749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06440" y="10972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Key Findings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806440" y="1508760"/>
            <a:ext cx="54864" cy="475488"/>
          </a:xfrm>
          <a:prstGeom prst="rect">
            <a:avLst/>
          </a:prstGeom>
          <a:solidFill>
            <a:srgbClr val="9B2335"/>
          </a:solidFill>
          <a:ln w="12700">
            <a:solidFill>
              <a:srgbClr val="9B233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0" y="1527048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casual_share ↔ member_share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943600" y="1728216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Strong negative (r ≈ −1): shares sum to 1 by design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806440" y="2130552"/>
            <a:ext cx="54864" cy="475488"/>
          </a:xfrm>
          <a:prstGeom prst="rect">
            <a:avLst/>
          </a:prstGeom>
          <a:solidFill>
            <a:srgbClr val="9B2335"/>
          </a:solidFill>
          <a:ln w="12700">
            <a:solidFill>
              <a:srgbClr val="9B233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43600" y="2148840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classic ↔ electric bike share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943600" y="2350008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Strong negative (r ≈ −1): same composition constraint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806440" y="2752344"/>
            <a:ext cx="54864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43600" y="2770632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Temperature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943600" y="297180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Weak positive with demand — winter range limits signal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806440" y="3374136"/>
            <a:ext cx="54864" cy="475488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43600" y="3392424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Precipitation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943600" y="359359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Moderate negative with daily trips (r ≈ −0.26)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806440" y="3995928"/>
            <a:ext cx="54864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43600" y="4014216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Rider type &amp; bike type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5943600" y="4215384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Largely independent of trip count in this period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731520"/>
            <a:ext cx="3200400" cy="3200400"/>
          </a:xfrm>
          <a:prstGeom prst="ellipse">
            <a:avLst/>
          </a:prstGeom>
          <a:solidFill>
            <a:srgbClr val="028090">
              <a:alpha val="22000"/>
            </a:srgbClr>
          </a:solidFill>
          <a:ln w="12700">
            <a:solidFill>
              <a:srgbClr val="028090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200400"/>
            <a:ext cx="2560320" cy="2560320"/>
          </a:xfrm>
          <a:prstGeom prst="ellipse">
            <a:avLst/>
          </a:prstGeom>
          <a:solidFill>
            <a:srgbClr val="00A896">
              <a:alpha val="20000"/>
            </a:srgbClr>
          </a:solidFill>
          <a:ln w="12700">
            <a:solidFill>
              <a:srgbClr val="00A896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A896"/>
                </a:solidFill>
              </a:rPr>
              <a:t>EDA SUMMARY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4069080" cy="14173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0A896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148132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88720" y="14813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Right-Skewed Demand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67512" y="1901952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8D8"/>
                </a:solidFill>
              </a:rPr>
              <a:t>Most station-days record fewer than 100 trips; a small subset of high-traffic stations drives aggregate totals.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92040" y="1371600"/>
            <a:ext cx="4069080" cy="14173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0A896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56632" y="148132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577840" y="14813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Strong Weekday Effect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56632" y="1901952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8D8"/>
                </a:solidFill>
              </a:rPr>
              <a:t>Weekdays average ~60% more total trips than weekends. Station-level medians: 51 (weekday) vs 30 (weekend).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2971800"/>
            <a:ext cx="4069080" cy="14173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0A896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" y="308152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188720" y="30815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Precipitation Dampens Demand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67512" y="3502152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8D8"/>
                </a:solidFill>
              </a:rPr>
              <a:t>Precipitation has the clearest weather effect (r ≈ −0.26). Temperature signal is noisy over winter ranges.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92040" y="2971800"/>
            <a:ext cx="4069080" cy="14173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0A896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56632" y="308152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</a:rPr>
              <a:t>04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577840" y="30815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Concentrated Station Demand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56632" y="3502152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8D8"/>
                </a:solidFill>
              </a:rPr>
              <a:t>Top 10 stations (Chelsea, Union Square) account for a disproportionate share of total trips — modeling must account for spatial heterogeneity.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Citi Bike EDA - Project 4</dc:title>
  <dc:subject>PptxGenJS Presentation</dc:subject>
  <dc:creator>PptxGenJS</dc:creator>
  <cp:lastModifiedBy>PptxGenJS</cp:lastModifiedBy>
  <cp:revision>1</cp:revision>
  <dcterms:created xsi:type="dcterms:W3CDTF">2026-05-03T00:20:59Z</dcterms:created>
  <dcterms:modified xsi:type="dcterms:W3CDTF">2026-05-03T00:20:59Z</dcterms:modified>
</cp:coreProperties>
</file>